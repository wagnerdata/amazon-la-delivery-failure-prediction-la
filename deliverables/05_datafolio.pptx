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945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1452" y="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00" cy="3840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640080" y="617220"/>
            <a:ext cx="2139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Predicting Last-Mile Delivery Failure Before the Truck Leaves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17320"/>
            <a:ext cx="2139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EC6CF"/>
                </a:solidFill>
              </a:rPr>
              <a:t>Evidence from 3,559 Real Amazon Packages — Los Angeles, July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057400"/>
            <a:ext cx="2139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Correlation One Data Analytics (DANA) — Week 12 Final Portfolio Project  |  Amazon Last Mile Routing Research Challenge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606040"/>
            <a:ext cx="420624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651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3,559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246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Total Packages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1999" y="2606040"/>
            <a:ext cx="420624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1999" y="2651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3246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LA 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2606040"/>
            <a:ext cx="420624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2651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0.70%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246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Failure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167359" y="2606040"/>
            <a:ext cx="420624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167359" y="2651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~140:1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59" y="3246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Class Imbalance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465039" y="2606040"/>
            <a:ext cx="420624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465039" y="2651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$17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65039" y="3246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Cost per Failure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4023360"/>
            <a:ext cx="5314950" cy="28529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60" y="4160520"/>
            <a:ext cx="531495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" y="420624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" y="4846320"/>
            <a:ext cx="5040630" cy="128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Business Problem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Every failed delivery attempt costs an estimated $17 when redelivery, customer service, and downstream Voice-of-Customer impact are combined. At scale, even a sub-1% failure rate represents material operational waste.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Dataset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Amazon Last Mile Routing Research Challenge (LMRC) 2021 — real operational data, not synthetic. 15 routes in Los Angeles, July 2018. 3,559 packages. Target: delivery_failure (1 = DELIVERY_ATTEMPTED, 0 = DELIVERED).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Key Dataset Notes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• days_in_fc: zero variance — all packages dispatched same day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• weather_risk: zero variance — July LA is universally "low"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• Only 2 shifts observed: morning and afternoon (no night routes)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• 91% of packages have cr_number_missing = 1 (normal for this dataset)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Approach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Random Forest classifier trained on dispatch-time features only. Class imbalance handled via class_weight='balanced' and SMOTE comparison. Threshold tuned for maximum recall (cost of missing a failure &gt;&gt; false alarm cost).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Tools &amp; Stack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• Python 3.9+  •  scikit-learn  •  imbalanced-learn (SMOTE)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• pandas / numpy  •  matplotlib / seaborn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• SQLite (EDA queries)  •  CrewAI agents (dispatcher reports)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Why Recall Over Accuracy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A naive classifier that always predicts "Delivered" achieves 99.3% accuracy — and catches zero failures. Recall is the business-relevant metric: each missed failure costs $17; a false alarm costs a quick manual check.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18196560"/>
            <a:ext cx="531495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8600" y="1824228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FEATURES USED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18790919"/>
            <a:ext cx="504063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Carrier (A / B / C / D)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Shift (morning / afternoon)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Package type (standard / high_value)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Route distance (km) — bucketed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Packages in route (count)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Double scan flag (binary)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Locker issue flag (binary)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CR number missing flag (binary)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Excluded Features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damaged_on_arrival → IS the target (data leakage)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weather_risk → zero variance (excluded)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days_in_fc → zero variance (excluded)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" y="25054560"/>
            <a:ext cx="531495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8600" y="2510028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CLASS IMBALANCE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5648919"/>
            <a:ext cx="504063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25 failures in 3,559 packages = ~140:1 ratio.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Standard accuracy is meaningless here. A model predicting "delivered" every time scores 99.3% accuracy yet catches zero failures.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Solutions applied: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1. class_weight='balanced' in RandomForest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2. SMOTE oversampling comparison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3. Threshold optimization for recall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89270" y="4023360"/>
            <a:ext cx="5314950" cy="28529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589270" y="4160520"/>
            <a:ext cx="531495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80710" y="420624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DATA &amp; METHOD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26430" y="4846320"/>
            <a:ext cx="50406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Class Distribution</a:t>
            </a:r>
          </a:p>
        </p:txBody>
      </p:sp>
      <p:pic>
        <p:nvPicPr>
          <p:cNvPr id="35" name="Picture 34" descr="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710" y="5212080"/>
            <a:ext cx="5132070" cy="3840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26430" y="9144000"/>
            <a:ext cx="504063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25 failures vs 3,534 successful deliveries. The ~140:1 imbalance drives all modeling decisions: metric choice, sampling strategy, and threshold tuning.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26430" y="10332720"/>
            <a:ext cx="50406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Correlation Heatmap</a:t>
            </a:r>
          </a:p>
        </p:txBody>
      </p:sp>
      <p:pic>
        <p:nvPicPr>
          <p:cNvPr id="38" name="Picture 37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710" y="10698480"/>
            <a:ext cx="5132070" cy="4754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26430" y="15544800"/>
            <a:ext cx="50406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No single feature dominates in Pearson correlation — expected at 0.7% failure rate. Small correlations are not evidence of weak predictors; they are a class-imbalance artifact. The Random Forest captures non-linear interactions invisible to pairwise correlation.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89270" y="17373600"/>
            <a:ext cx="531495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80710" y="1741932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EDA METHODOLOGY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26430" y="17967960"/>
            <a:ext cx="504063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Four-step EDA using SQLite in-memory queries: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Step 1 — Data Profiling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Null audit, value-count review, zero-variance flagging. Confirmed days_in_fc and weather_risk have no signal.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Step 2 — Class Imbalance Assessment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Visualized 140:1 ratio; established recall as primary metric.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Step 3 — Bivariate Analysis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Failure rates by carrier, shift, route distance, and package type using GROUP BY SQL queries.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Step 4 — Correlation &amp; Feature Ranking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Pearson heatmap + conditional failure-rate ranking as a model-free feature importance preview.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89270" y="26426160"/>
            <a:ext cx="531495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80710" y="2647188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DATA QUALITY DECISIONS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26430" y="26974800"/>
            <a:ext cx="504063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Zero-variance exclusions: weather_risk and days_in_fc removed before modeling — both have identical values across all 3,559 rows (dataset limitation for July 2018 LA).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Data leakage prevention: damaged_on_arrival IS the target variable (DELIVERY_ATTEMPTED flag from scan_status). Using it as a feature would be circular — excluded entirely.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Feature encoding: carrier, shift, package_type label-encoded. Distance bucketed into operationally meaningful ranges (&lt; 40 km / 40–60 km / &gt; 60 km) before one-hot encoding.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41380" y="4023360"/>
            <a:ext cx="5314950" cy="28529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1041380" y="4160520"/>
            <a:ext cx="531495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132820" y="420624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78540" y="4846320"/>
            <a:ext cx="50406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Failure Rate by Carrier</a:t>
            </a:r>
          </a:p>
        </p:txBody>
      </p:sp>
      <p:pic>
        <p:nvPicPr>
          <p:cNvPr id="50" name="Picture 49" descr="failure_rate_by_carr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2820" y="5212080"/>
            <a:ext cx="5132070" cy="38404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78540" y="9144000"/>
            <a:ext cx="504063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carrier_D has the highest failure rate (1.39%) — nearly double the 0.70% overall average. carrier_B has zero failures across 412 packages. Carrier identity is the strongest structural predictor in the dataset.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78540" y="10515600"/>
            <a:ext cx="50406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Failure Rate by Shift</a:t>
            </a:r>
          </a:p>
        </p:txBody>
      </p:sp>
      <p:pic>
        <p:nvPicPr>
          <p:cNvPr id="53" name="Picture 52" descr="failure_rate_by_shi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2820" y="10881360"/>
            <a:ext cx="5132070" cy="384048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178540" y="14813280"/>
            <a:ext cx="504063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Morning shift drives 1.37% failure rate vs 0.55% for afternoon. In dense LA neighborhoods, morning deliveries face lower residential occupancy (commuters at work) and more access barriers. Only 2 shifts exist in this dataset — no night routes operate on these 15 LA routes.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78540" y="16413480"/>
            <a:ext cx="50406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Failure Rate by Route Distance</a:t>
            </a:r>
          </a:p>
        </p:txBody>
      </p:sp>
      <p:pic>
        <p:nvPicPr>
          <p:cNvPr id="56" name="Picture 55" descr="failure_rate_by_dist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2820" y="16779240"/>
            <a:ext cx="5132070" cy="411480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11132820" y="21076919"/>
            <a:ext cx="5132070" cy="2377440"/>
          </a:xfrm>
          <a:prstGeom prst="rect">
            <a:avLst/>
          </a:prstGeom>
          <a:solidFill>
            <a:srgbClr val="FFF0EE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224260" y="21168360"/>
            <a:ext cx="494919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74C3C"/>
                </a:solidFill>
              </a:rPr>
              <a:t>URBAN DENSITY PARADOX</a:t>
            </a:r>
          </a:p>
          <a:p>
            <a:pPr algn="l"/>
            <a:r>
              <a:rPr sz="900" b="0">
                <a:solidFill>
                  <a:srgbClr val="E74C3C"/>
                </a:solidFill>
              </a:rPr>
              <a:t>Routes under 40 km fail at 1.89% — the highest of any bucket. Routes over 60 km have ZERO failures. Dense LA neighborhoods present access barriers that longer suburban routes avoid: locked apartment lobbies, key-fob gates, congested Amazon Lockers, and multi-tenant buildings with no reception.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78540" y="23728680"/>
            <a:ext cx="50406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Feature Importance Preview</a:t>
            </a:r>
          </a:p>
        </p:txBody>
      </p:sp>
      <p:pic>
        <p:nvPicPr>
          <p:cNvPr id="60" name="Picture 59" descr="feature_importance_p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2820" y="24094440"/>
            <a:ext cx="5132070" cy="50292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178540" y="29215080"/>
            <a:ext cx="50406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Model-free conditional failure-rate ranking. carrier_D and morning shift emerge as the top predictors. locker_issue shows an elevated signal despite low frequency. No single feature dominates — the Random Forest will exploit interactions between carrier, shift, and distance simultaneously.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041380" y="31043880"/>
            <a:ext cx="531495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132820" y="3108960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TOP 3 FINDINGS AT A GLANCE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78540" y="31638240"/>
            <a:ext cx="50406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1. carrier_D fails at 2× the average rate (1.39% vs 0.70%) — structural carrier risk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2. Morning shift has 2.5× higher failure rate than afternoon (1.37% vs 0.55%)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3. Short routes fail MOST — &lt; 40 km at 1.89% vs &gt; 60 km at 0.00% (urban density paradox)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93490" y="4023360"/>
            <a:ext cx="5314950" cy="28529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6493490" y="4160520"/>
            <a:ext cx="531495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6584930" y="420624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CONCLUSIONS &amp; NEXT STEPS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630650" y="4846320"/>
            <a:ext cx="504063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What This Analysis Proved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Three findings stand out from the real LMRC data — and one was a genuine surprise. carrier_D's elevated failure rate and morning shift's access barriers are expected; the counterintuitive result was route distance. The assumption that longer, more complex routes would fail more often is exactly backwards: the data shows the shortest routes (dense urban LA) fail almost 2× more than routes twice their length.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This matters for dispatch planning. Flagging carrier_D morning routes through dense neighborhoods as high-risk before the truck leaves is operationally tractable — the data signals are available at dispatch time.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Actionable Recommendations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1. Flag carrier_D × morning × &lt; 40 km combinations for pre-dispatch supervisor review. This combination concentrates all three top risk factors.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2. Redistribute carrier_D's densest routes (&lt; 30 km, morning) to carrier_B or carrier_A, which demonstrate significantly lower failure rates on equivalent geographic footprints.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3. Implement a morning-shift access-verification protocol: confirm delivery access codes, intercom numbers, or locker availability before dispatch for packages on sub-40 km urban routes.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6493490" y="13761720"/>
            <a:ext cx="531495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6584930" y="1380744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MODEL IMPLICATIONS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630650" y="14356080"/>
            <a:ext cx="5040630" cy="960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Recall &gt; Accuracy (always)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At 0.7% failure rate, accuracy is irrelevant. A model predicting "delivered" 100% of the time scores 99.3% accuracy with zero business value. Recall — what fraction of real failures does the model catch? — is the metric that maps to operational savings.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Why class_weight='balanced'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The RandomForest's native class_weight='balanced' reweights each failure by a factor of ~140× relative to a successful delivery. This prevents the model from defaulting to the majority class.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Why SMOTE (comparison)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Synthetic Minority Oversampling (SMOTE) generates synthetic failure samples in feature space. The notebook compares balanced-weight RandomForest vs SMOTE+RandomForest and reports recall, precision, and AUC-ROC.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Threshold Optimization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Default probability threshold (0.5) is suboptimal for recall. The notebook sweeps thresholds from 0.1 to 0.9 and selects the cutoff that maximizes recall while keeping precision above a business-defined floor.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Limitations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• 3,559 packages from 15 routes is a small training set for a 0.7% event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• Only July 2018 LA — seasonal and geographic generalization untested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• Feature set is dispatch-time only; real-time GPS signals not available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493490" y="24231600"/>
            <a:ext cx="531495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6584930" y="2427732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630650" y="24825960"/>
            <a:ext cx="504063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Scale to full LMRC dataset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The full Amazon LMRC 2021 dataset covers ~6,000 routes. Scaling from 15 routes to the full dataset would provide sufficient failure examples to train a more robust model without SMOTE dependence.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Barcelona Open Data Validation Layer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A planned extension would test whether urban-density failure patterns generalize to other markets using Barcelona Open Data (accident risk by neighborhood, traffic congestion by shift). This would validate whether the U.S.-specific findings translate to European delivery networks.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CrewAI Agent Integration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The agents_crew.py module is designed to generate per-package executive risk reports via CrewAI. The next step is integrating the trained model output as tool input so the agent can produce: "Package X is high-risk because carrier_D + morning + &lt; 40 km. Recommend: hold for review."</a:t>
            </a:r>
          </a:p>
          <a:p>
            <a:pPr algn="l"/>
            <a:endParaRPr sz="950" b="0">
              <a:solidFill>
                <a:srgbClr val="2C3E50"/>
              </a:solidFill>
            </a:endParaRPr>
          </a:p>
          <a:p>
            <a:pPr algn="l"/>
            <a:r>
              <a:rPr sz="950" b="0">
                <a:solidFill>
                  <a:srgbClr val="2C3E50"/>
                </a:solidFill>
              </a:rPr>
              <a:t>Dashboard Deployment</a:t>
            </a:r>
          </a:p>
          <a:p>
            <a:pPr algn="l"/>
            <a:r>
              <a:rPr sz="950" b="0">
                <a:solidFill>
                  <a:srgbClr val="2C3E50"/>
                </a:solidFill>
              </a:rPr>
              <a:t>The Streamlit operations dashboard (dashboard.py) provides real-time package scoring for dispatch supervisors. Deploy as a daily S&amp;OP tool with route-level morning briefings.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493490" y="31958280"/>
            <a:ext cx="531495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6584930" y="32004000"/>
            <a:ext cx="51320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CREWAI AGENT OUTPUT EXAMPLE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630650" y="32552640"/>
            <a:ext cx="50406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"Package PKG_abc123 — RISK: HIGH</a:t>
            </a:r>
          </a:p>
          <a:p>
            <a:pPr algn="l"/>
            <a:r>
              <a:rPr sz="850" b="0">
                <a:solidFill>
                  <a:srgbClr val="2C3E50"/>
                </a:solidFill>
              </a:rPr>
              <a:t>Carrier D, morning shift, route 31.2 km.</a:t>
            </a:r>
          </a:p>
          <a:p>
            <a:pPr algn="l"/>
            <a:r>
              <a:rPr sz="850" b="0">
                <a:solidFill>
                  <a:srgbClr val="2C3E50"/>
                </a:solidFill>
              </a:rPr>
              <a:t>All three top risk factors active simultaneously.</a:t>
            </a:r>
          </a:p>
          <a:p>
            <a:pPr algn="l"/>
            <a:r>
              <a:rPr sz="850" b="0">
                <a:solidFill>
                  <a:srgbClr val="2C3E50"/>
                </a:solidFill>
              </a:rPr>
              <a:t>Recommendation: Hold for pre-dispatch review.</a:t>
            </a:r>
          </a:p>
          <a:p>
            <a:pPr algn="l"/>
            <a:r>
              <a:rPr sz="850" b="0">
                <a:solidFill>
                  <a:srgbClr val="2C3E50"/>
                </a:solidFill>
              </a:rPr>
              <a:t>Estimated failure cost if not intervened: $17." 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32598360"/>
            <a:ext cx="219456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74320" y="32598360"/>
            <a:ext cx="21396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Correlation One Data Analytics (DANA) — Week 12 Final Portfolio Project  |  Amazon LMRC 2021 Dataset (Public)  |  Los Angeles, July 2018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1734</Words>
  <Application>Microsoft Office PowerPoint</Application>
  <PresentationFormat>Custom</PresentationFormat>
  <Paragraphs>148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wagner Alexandre</cp:lastModifiedBy>
  <cp:revision>2</cp:revision>
  <dcterms:created xsi:type="dcterms:W3CDTF">2013-01-27T09:14:16Z</dcterms:created>
  <dcterms:modified xsi:type="dcterms:W3CDTF">2026-04-10T22:51:07Z</dcterms:modified>
  <cp:category/>
</cp:coreProperties>
</file>